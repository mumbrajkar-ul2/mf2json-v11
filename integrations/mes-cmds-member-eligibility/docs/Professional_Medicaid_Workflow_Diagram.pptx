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FCED-4A0A-4349-B78B-BAB5F11745B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61E27-E6EE-4D4F-810A-0D902B2F1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8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ECB75-0983-423D-BF9B-7DB4AA8265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AI-Assisted Medicaid Integration Specification Generation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60" y="3074665"/>
            <a:ext cx="5486400" cy="999306"/>
          </a:xfrm>
          <a:prstGeom prst="roundRect">
            <a:avLst/>
          </a:prstGeom>
          <a:solidFill>
            <a:srgbClr val="E1E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rPr dirty="0"/>
              <a:t>Integration Project (</a:t>
            </a:r>
            <a:r>
              <a:rPr dirty="0" err="1"/>
              <a:t>mes</a:t>
            </a:r>
            <a:r>
              <a:rPr dirty="0"/>
              <a:t>-</a:t>
            </a:r>
            <a:r>
              <a:rPr dirty="0" err="1"/>
              <a:t>cmds</a:t>
            </a:r>
            <a:r>
              <a:rPr dirty="0"/>
              <a:t>-member-eligibility)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309" y="3466543"/>
            <a:ext cx="146304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source/MEMBERELIGIBILITY.csv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8398" y="3466543"/>
            <a:ext cx="1597262" cy="33964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rPr dirty="0"/>
              <a:t>target/MemberEligibilityVO.md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100" y="3440425"/>
            <a:ext cx="100584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research/*.yaml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4380" y="3440425"/>
            <a:ext cx="1005840" cy="37882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rPr dirty="0"/>
              <a:t>spec/*.md + .docx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7291" y="4629145"/>
            <a:ext cx="9875520" cy="1169118"/>
          </a:xfrm>
          <a:prstGeom prst="roundRect">
            <a:avLst/>
          </a:prstGeom>
          <a:solidFill>
            <a:srgbClr val="E2F5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t>Shared Validation Library (medicare-validation-rules)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771" y="5086345"/>
            <a:ext cx="13716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data-elements.md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0171" y="5086345"/>
            <a:ext cx="13716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value-lists/*.csv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75371" y="5086345"/>
            <a:ext cx="9144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MANIFEST.yaml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1211" y="5086345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schema.json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6091" y="5086345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validate_research.py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571" y="5086345"/>
            <a:ext cx="16459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validate_spec.py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6251" y="5086345"/>
            <a:ext cx="6400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md→docx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0100" y="948695"/>
            <a:ext cx="2971800" cy="1913706"/>
          </a:xfrm>
          <a:prstGeom prst="round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t>Cursor 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3020" y="1360174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Cursor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4460" y="2183134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prompts/*.md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4620" y="2183134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.cursor/rules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5661660" y="1771654"/>
            <a:ext cx="0" cy="4114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>
            <a:off x="5661660" y="1771654"/>
            <a:ext cx="1005840" cy="4114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7970" y="421439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Research artifacts are validated before specification generation and DOCX export.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5C00271-7F1A-1EE6-8DBE-A2C28199F28B}"/>
              </a:ext>
            </a:extLst>
          </p:cNvPr>
          <p:cNvCxnSpPr>
            <a:cxnSpLocks/>
            <a:stCxn id="18" idx="1"/>
            <a:endCxn id="3" idx="0"/>
          </p:cNvCxnSpPr>
          <p:nvPr/>
        </p:nvCxnSpPr>
        <p:spPr>
          <a:xfrm rot="10800000" flipV="1">
            <a:off x="2918460" y="2388873"/>
            <a:ext cx="2286000" cy="6857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CBE971B-A148-5A39-2424-C826CDE7FC3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7399020" y="2388874"/>
            <a:ext cx="777240" cy="22402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2880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Business Analyst</a:t>
            </a:r>
          </a:p>
        </p:txBody>
      </p:sp>
      <p:cxnSp>
        <p:nvCxnSpPr>
          <p:cNvPr id="3" name="Connector 2"/>
          <p:cNvCxnSpPr>
            <a:cxnSpLocks/>
          </p:cNvCxnSpPr>
          <p:nvPr/>
        </p:nvCxnSpPr>
        <p:spPr>
          <a:xfrm>
            <a:off x="804672" y="1035017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737360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Cursor Chat 1 Research</a:t>
            </a:r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 flipH="1">
            <a:off x="2349984" y="1035017"/>
            <a:ext cx="9168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00544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rPr dirty="0"/>
              <a:t>validate_research.py</a:t>
            </a:r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 flipH="1">
            <a:off x="3904320" y="1035017"/>
            <a:ext cx="18015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Human Review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5468112" y="1035017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77002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Cursor Chat 2 Writer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7098794" y="1035017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75170" y="640083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validate_spec_against_research.py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8796962" y="1024131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66812" y="640083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md_to_docx.py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0488604" y="1024131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1245329"/>
            <a:ext cx="14814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>
                <a:solidFill>
                  <a:srgbClr val="002060"/>
                </a:solidFill>
                <a:highlight>
                  <a:srgbClr val="FFFF00"/>
                </a:highlight>
              </a:rPr>
              <a:t>Research prompt +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8168" y="2372048"/>
            <a:ext cx="123944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</a:rPr>
              <a:t>Write research/*.</a:t>
            </a:r>
            <a:r>
              <a:rPr sz="900" dirty="0" err="1">
                <a:solidFill>
                  <a:srgbClr val="002060"/>
                </a:solidFill>
              </a:rPr>
              <a:t>yaml</a:t>
            </a:r>
            <a:endParaRPr sz="900" dirty="0">
              <a:solidFill>
                <a:srgbClr val="00206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1241" y="2614706"/>
            <a:ext cx="144943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b="1" dirty="0">
                <a:solidFill>
                  <a:srgbClr val="002060"/>
                </a:solidFill>
              </a:rPr>
              <a:t>Schema + semantic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6344" y="3041381"/>
            <a:ext cx="75693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>
                <a:solidFill>
                  <a:srgbClr val="002060"/>
                </a:solidFill>
              </a:rPr>
              <a:t>OK or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8598" y="3677122"/>
            <a:ext cx="174599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</a:rPr>
              <a:t>Review YAML mappings and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6344" y="4066778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</a:rP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318" y="4483723"/>
            <a:ext cx="19078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  <a:highlight>
                  <a:srgbClr val="FFFF00"/>
                </a:highlight>
              </a:rPr>
              <a:t>Writer prompt + research YAML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1766" y="5151566"/>
            <a:ext cx="155844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</a:rPr>
              <a:t>Write spec/*.md sections 1-5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5232" y="5758453"/>
            <a:ext cx="79541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>
                <a:solidFill>
                  <a:srgbClr val="002060"/>
                </a:solidFill>
              </a:rPr>
              <a:t>Parity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4000" y="6170433"/>
            <a:ext cx="76495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</a:rPr>
              <a:t>Export .docx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7866" y="6333405"/>
            <a:ext cx="129875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800">
                <a:solidFill>
                  <a:srgbClr val="002060"/>
                </a:solidFill>
              </a:defRPr>
            </a:lvl1pPr>
          </a:lstStyle>
          <a:p>
            <a:r>
              <a:rPr sz="900" dirty="0"/>
              <a:t>Stakeholder deliverable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47D729-22DA-48C5-7B31-3CDC58B59FCA}"/>
              </a:ext>
            </a:extLst>
          </p:cNvPr>
          <p:cNvCxnSpPr/>
          <p:nvPr/>
        </p:nvCxnSpPr>
        <p:spPr>
          <a:xfrm>
            <a:off x="804672" y="1460773"/>
            <a:ext cx="1572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240BF35-CE06-E9A9-6728-409132C5108C}"/>
              </a:ext>
            </a:extLst>
          </p:cNvPr>
          <p:cNvCxnSpPr>
            <a:cxnSpLocks/>
          </p:cNvCxnSpPr>
          <p:nvPr/>
        </p:nvCxnSpPr>
        <p:spPr>
          <a:xfrm rot="5400000">
            <a:off x="2251263" y="1728294"/>
            <a:ext cx="210142" cy="12700"/>
          </a:xfrm>
          <a:prstGeom prst="bentConnector4">
            <a:avLst>
              <a:gd name="adj1" fmla="val 24369"/>
              <a:gd name="adj2" fmla="val -17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23644" y="1855971"/>
            <a:ext cx="15199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900" dirty="0">
                <a:solidFill>
                  <a:srgbClr val="002060"/>
                </a:solidFill>
              </a:rPr>
              <a:t>Read source, VO, rules, VVLs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E9D0EC4-CEF0-FB78-135F-00FD88D557B3}"/>
              </a:ext>
            </a:extLst>
          </p:cNvPr>
          <p:cNvCxnSpPr>
            <a:cxnSpLocks/>
          </p:cNvCxnSpPr>
          <p:nvPr/>
        </p:nvCxnSpPr>
        <p:spPr>
          <a:xfrm rot="5400000">
            <a:off x="2251263" y="2271798"/>
            <a:ext cx="210142" cy="12700"/>
          </a:xfrm>
          <a:prstGeom prst="bentConnector4">
            <a:avLst>
              <a:gd name="adj1" fmla="val 24369"/>
              <a:gd name="adj2" fmla="val -17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AAD063-57CA-D928-B444-1D59703B12B8}"/>
              </a:ext>
            </a:extLst>
          </p:cNvPr>
          <p:cNvCxnSpPr>
            <a:cxnSpLocks/>
          </p:cNvCxnSpPr>
          <p:nvPr/>
        </p:nvCxnSpPr>
        <p:spPr>
          <a:xfrm>
            <a:off x="2377440" y="2830150"/>
            <a:ext cx="15448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BB016F-7F06-37F5-F4A0-7B044C752E17}"/>
              </a:ext>
            </a:extLst>
          </p:cNvPr>
          <p:cNvCxnSpPr>
            <a:cxnSpLocks/>
          </p:cNvCxnSpPr>
          <p:nvPr/>
        </p:nvCxnSpPr>
        <p:spPr>
          <a:xfrm flipH="1" flipV="1">
            <a:off x="804672" y="3256825"/>
            <a:ext cx="3113092" cy="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F33A77-5380-9E46-1419-F15341A353B1}"/>
              </a:ext>
            </a:extLst>
          </p:cNvPr>
          <p:cNvCxnSpPr>
            <a:cxnSpLocks/>
          </p:cNvCxnSpPr>
          <p:nvPr/>
        </p:nvCxnSpPr>
        <p:spPr>
          <a:xfrm flipV="1">
            <a:off x="804672" y="3867650"/>
            <a:ext cx="4645153" cy="15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EAAB6E-484E-FBBC-1E17-A2DCC3387488}"/>
              </a:ext>
            </a:extLst>
          </p:cNvPr>
          <p:cNvCxnSpPr>
            <a:cxnSpLocks/>
          </p:cNvCxnSpPr>
          <p:nvPr/>
        </p:nvCxnSpPr>
        <p:spPr>
          <a:xfrm flipH="1">
            <a:off x="758953" y="4266829"/>
            <a:ext cx="46908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D4F191-6ED6-9AA0-E0AC-F1BC471EA413}"/>
              </a:ext>
            </a:extLst>
          </p:cNvPr>
          <p:cNvCxnSpPr>
            <a:cxnSpLocks/>
          </p:cNvCxnSpPr>
          <p:nvPr/>
        </p:nvCxnSpPr>
        <p:spPr>
          <a:xfrm>
            <a:off x="804672" y="4719445"/>
            <a:ext cx="6294122" cy="12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70FFA637-8D62-0B46-7278-D2FAABE19993}"/>
              </a:ext>
            </a:extLst>
          </p:cNvPr>
          <p:cNvCxnSpPr>
            <a:cxnSpLocks/>
          </p:cNvCxnSpPr>
          <p:nvPr/>
        </p:nvCxnSpPr>
        <p:spPr>
          <a:xfrm rot="5400000">
            <a:off x="6972569" y="5398933"/>
            <a:ext cx="210142" cy="12700"/>
          </a:xfrm>
          <a:prstGeom prst="bentConnector4">
            <a:avLst>
              <a:gd name="adj1" fmla="val 24369"/>
              <a:gd name="adj2" fmla="val -17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D1601E1-DF73-882F-F849-47DE84ED38A4}"/>
              </a:ext>
            </a:extLst>
          </p:cNvPr>
          <p:cNvCxnSpPr>
            <a:cxnSpLocks/>
          </p:cNvCxnSpPr>
          <p:nvPr/>
        </p:nvCxnSpPr>
        <p:spPr>
          <a:xfrm>
            <a:off x="7098794" y="5939563"/>
            <a:ext cx="1752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EC7EDD0-116E-A584-44CC-95A881D31033}"/>
              </a:ext>
            </a:extLst>
          </p:cNvPr>
          <p:cNvCxnSpPr>
            <a:cxnSpLocks/>
          </p:cNvCxnSpPr>
          <p:nvPr/>
        </p:nvCxnSpPr>
        <p:spPr>
          <a:xfrm>
            <a:off x="8806498" y="6385877"/>
            <a:ext cx="1677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4F25857-02D9-912A-11EA-20DA640E2695}"/>
              </a:ext>
            </a:extLst>
          </p:cNvPr>
          <p:cNvCxnSpPr>
            <a:cxnSpLocks/>
          </p:cNvCxnSpPr>
          <p:nvPr/>
        </p:nvCxnSpPr>
        <p:spPr>
          <a:xfrm flipH="1">
            <a:off x="804672" y="6608953"/>
            <a:ext cx="96839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305629-8F9E-9F42-9835-5335DCEDA61E}"/>
              </a:ext>
            </a:extLst>
          </p:cNvPr>
          <p:cNvSpPr txBox="1"/>
          <p:nvPr/>
        </p:nvSpPr>
        <p:spPr>
          <a:xfrm>
            <a:off x="274320" y="91440"/>
            <a:ext cx="20331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lang="en-US" dirty="0"/>
              <a:t>Workflow Stages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E444-64FB-CFC6-069C-FF3D41E8942B}"/>
              </a:ext>
            </a:extLst>
          </p:cNvPr>
          <p:cNvSpPr txBox="1"/>
          <p:nvPr/>
        </p:nvSpPr>
        <p:spPr>
          <a:xfrm>
            <a:off x="274320" y="91440"/>
            <a:ext cx="23737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lang="en-US" dirty="0"/>
              <a:t>Cursor Control Plane</a:t>
            </a:r>
            <a:endParaRPr dirty="0"/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4326F09D-B708-D952-B045-94844341CAD9}"/>
              </a:ext>
            </a:extLst>
          </p:cNvPr>
          <p:cNvSpPr/>
          <p:nvPr/>
        </p:nvSpPr>
        <p:spPr>
          <a:xfrm>
            <a:off x="1067534" y="1186065"/>
            <a:ext cx="201168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@ file references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155B369D-0E9C-D974-DC92-A0F1F8A7F79C}"/>
              </a:ext>
            </a:extLst>
          </p:cNvPr>
          <p:cNvSpPr/>
          <p:nvPr/>
        </p:nvSpPr>
        <p:spPr>
          <a:xfrm>
            <a:off x="3902174" y="1186065"/>
            <a:ext cx="274320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integration-spec-research.md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0D799BF0-84E7-DFA3-9E65-0346D9F51072}"/>
              </a:ext>
            </a:extLst>
          </p:cNvPr>
          <p:cNvSpPr/>
          <p:nvPr/>
        </p:nvSpPr>
        <p:spPr>
          <a:xfrm>
            <a:off x="7559774" y="1186065"/>
            <a:ext cx="310896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integration-spec-research.mdc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F027BA21-72E6-46E3-32E7-BECECBE86DD2}"/>
              </a:ext>
            </a:extLst>
          </p:cNvPr>
          <p:cNvSpPr/>
          <p:nvPr/>
        </p:nvSpPr>
        <p:spPr>
          <a:xfrm>
            <a:off x="182880" y="2743200"/>
            <a:ext cx="393192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medicaid-spec-conventions.mdc</a:t>
            </a:r>
          </a:p>
          <a:p>
            <a:r>
              <a:t>(always)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C644EDDC-43F1-27DE-CC98-609E455E7004}"/>
              </a:ext>
            </a:extLst>
          </p:cNvPr>
          <p:cNvSpPr/>
          <p:nvPr/>
        </p:nvSpPr>
        <p:spPr>
          <a:xfrm>
            <a:off x="5182334" y="2743200"/>
            <a:ext cx="237744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integration-spec-write.md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58D34EAD-311B-8737-6CB2-4C7F57C0D769}"/>
              </a:ext>
            </a:extLst>
          </p:cNvPr>
          <p:cNvSpPr/>
          <p:nvPr/>
        </p:nvSpPr>
        <p:spPr>
          <a:xfrm>
            <a:off x="8595360" y="2743200"/>
            <a:ext cx="283464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integration-spec-writer.mdc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35B936-ED2E-44AD-31A2-BF4A42F2C70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079214" y="1597545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4FF5DD-149D-A728-9D38-B76637F33B3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559774" y="3154680"/>
            <a:ext cx="10355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98919E-BF79-F61B-E633-53D5395B6DD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14800" y="3154680"/>
            <a:ext cx="1067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F40B83-B2C2-18F2-B3E2-657B5F2166D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645374" y="1597545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06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291DC-AE07-64E2-733A-FCCEB0C9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2262024"/>
            <a:ext cx="11841227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6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5DBA0-156E-69F0-0F9A-9552874F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005"/>
            <a:ext cx="12192000" cy="39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8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E9F47-0240-8385-8AE9-2A08DC0D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321"/>
            <a:ext cx="12192000" cy="60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1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191</Words>
  <Application>Microsoft Office PowerPoint</Application>
  <PresentationFormat>Widescreen</PresentationFormat>
  <Paragraphs>48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Mangesh Umbrajkar</cp:lastModifiedBy>
  <cp:revision>8</cp:revision>
  <dcterms:created xsi:type="dcterms:W3CDTF">2013-01-27T09:14:16Z</dcterms:created>
  <dcterms:modified xsi:type="dcterms:W3CDTF">2026-06-02T14:05:02Z</dcterms:modified>
  <cp:category/>
</cp:coreProperties>
</file>