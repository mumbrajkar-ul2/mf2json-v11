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8" r:id="rId2"/>
    <p:sldId id="256" r:id="rId3"/>
    <p:sldId id="257" r:id="rId4"/>
    <p:sldId id="261" r:id="rId5"/>
    <p:sldId id="269" r:id="rId6"/>
    <p:sldId id="270" r:id="rId7"/>
    <p:sldId id="260" r:id="rId8"/>
    <p:sldId id="258" r:id="rId9"/>
    <p:sldId id="259" r:id="rId10"/>
    <p:sldId id="262" r:id="rId11"/>
    <p:sldId id="263" r:id="rId12"/>
    <p:sldId id="264" r:id="rId13"/>
    <p:sldId id="265" r:id="rId14"/>
    <p:sldId id="267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260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3FCED-4A0A-4349-B78B-BAB5F11745B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861E27-E6EE-4D4F-810A-0D902B2F1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86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ECB75-0983-423D-BF9B-7DB4AA82655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80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9553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EC035C-BB90-0575-06CE-B608379B3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99" y="2443103"/>
            <a:ext cx="11972002" cy="190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956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dirty="0"/>
              <a:t>AI-Assisted Medicaid Integration Specification Generation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5260" y="3074665"/>
            <a:ext cx="5486400" cy="999306"/>
          </a:xfrm>
          <a:prstGeom prst="roundRect">
            <a:avLst/>
          </a:prstGeom>
          <a:solidFill>
            <a:srgbClr val="E1E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1E1E1E"/>
                </a:solidFill>
              </a:defRPr>
            </a:pPr>
            <a:r>
              <a:rPr dirty="0"/>
              <a:t>Integration Project (</a:t>
            </a:r>
            <a:r>
              <a:rPr dirty="0" err="1"/>
              <a:t>mes</a:t>
            </a:r>
            <a:r>
              <a:rPr dirty="0"/>
              <a:t>-</a:t>
            </a:r>
            <a:r>
              <a:rPr dirty="0" err="1"/>
              <a:t>cmds</a:t>
            </a:r>
            <a:r>
              <a:rPr dirty="0"/>
              <a:t>-member-eligibility)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5309" y="3466543"/>
            <a:ext cx="146304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source/MEMBERELIGIBILITY.csv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78398" y="3466543"/>
            <a:ext cx="1597262" cy="339642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rPr dirty="0"/>
              <a:t>target/MemberEligibilityVO.md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7100" y="3440425"/>
            <a:ext cx="100584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research/*.yaml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64380" y="3440425"/>
            <a:ext cx="1005840" cy="378828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rPr dirty="0"/>
              <a:t>spec/*.md + .docx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77291" y="4629145"/>
            <a:ext cx="9875520" cy="1169118"/>
          </a:xfrm>
          <a:prstGeom prst="roundRect">
            <a:avLst/>
          </a:prstGeom>
          <a:solidFill>
            <a:srgbClr val="E2F5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1E1E1E"/>
                </a:solidFill>
              </a:defRPr>
            </a:pPr>
            <a:r>
              <a:t>Shared Validation Library (medicare-validation-rules)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17771" y="5086345"/>
            <a:ext cx="137160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data-elements.md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0171" y="5086345"/>
            <a:ext cx="137160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value-lists/*.csv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75371" y="5086345"/>
            <a:ext cx="91440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MANIFEST.yaml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81211" y="5086345"/>
            <a:ext cx="118872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schema.json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06091" y="5086345"/>
            <a:ext cx="10972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validate_research.py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46571" y="5086345"/>
            <a:ext cx="164592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validate_spec.py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86251" y="5086345"/>
            <a:ext cx="6400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md→docx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0100" y="948695"/>
            <a:ext cx="2971800" cy="1913706"/>
          </a:xfrm>
          <a:prstGeom prst="round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1E1E1E"/>
                </a:solidFill>
              </a:defRPr>
            </a:pPr>
            <a:r>
              <a:t>Cursor 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13020" y="1360174"/>
            <a:ext cx="9144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Cursor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04460" y="2183134"/>
            <a:ext cx="9144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prompts/*.md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84620" y="2183134"/>
            <a:ext cx="9144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1E1E1E"/>
                </a:solidFill>
              </a:defRPr>
            </a:pPr>
            <a:r>
              <a:t>.cursor/rules</a:t>
            </a:r>
          </a:p>
        </p:txBody>
      </p:sp>
      <p:cxnSp>
        <p:nvCxnSpPr>
          <p:cNvPr id="20" name="Connector 19"/>
          <p:cNvCxnSpPr>
            <a:cxnSpLocks/>
          </p:cNvCxnSpPr>
          <p:nvPr/>
        </p:nvCxnSpPr>
        <p:spPr>
          <a:xfrm>
            <a:off x="5661660" y="1771654"/>
            <a:ext cx="0" cy="41148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cxnSpLocks/>
          </p:cNvCxnSpPr>
          <p:nvPr/>
        </p:nvCxnSpPr>
        <p:spPr>
          <a:xfrm>
            <a:off x="5661660" y="1771654"/>
            <a:ext cx="1005840" cy="41148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77970" y="421439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Research artifacts are validated before specification generation and DOCX export.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75C00271-7F1A-1EE6-8DBE-A2C28199F28B}"/>
              </a:ext>
            </a:extLst>
          </p:cNvPr>
          <p:cNvCxnSpPr>
            <a:cxnSpLocks/>
            <a:stCxn id="18" idx="1"/>
            <a:endCxn id="3" idx="0"/>
          </p:cNvCxnSpPr>
          <p:nvPr/>
        </p:nvCxnSpPr>
        <p:spPr>
          <a:xfrm rot="10800000" flipV="1">
            <a:off x="2918460" y="2388873"/>
            <a:ext cx="2286000" cy="68579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DCBE971B-A148-5A39-2424-C826CDE7FC32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7399020" y="2388874"/>
            <a:ext cx="777240" cy="224027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82880" y="650969"/>
            <a:ext cx="1234440" cy="384048"/>
          </a:xfrm>
          <a:prstGeom prst="roundRect">
            <a:avLst/>
          </a:prstGeom>
          <a:solidFill>
            <a:srgbClr val="3E4046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>
                <a:solidFill>
                  <a:srgbClr val="F0F0F0"/>
                </a:solidFill>
              </a:defRPr>
            </a:pPr>
            <a:r>
              <a:t>Business Analyst</a:t>
            </a:r>
          </a:p>
        </p:txBody>
      </p:sp>
      <p:cxnSp>
        <p:nvCxnSpPr>
          <p:cNvPr id="3" name="Connector 2"/>
          <p:cNvCxnSpPr>
            <a:cxnSpLocks/>
          </p:cNvCxnSpPr>
          <p:nvPr/>
        </p:nvCxnSpPr>
        <p:spPr>
          <a:xfrm>
            <a:off x="804672" y="1035017"/>
            <a:ext cx="0" cy="5760720"/>
          </a:xfrm>
          <a:prstGeom prst="line">
            <a:avLst/>
          </a:prstGeom>
          <a:ln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737360" y="650969"/>
            <a:ext cx="1234440" cy="384048"/>
          </a:xfrm>
          <a:prstGeom prst="roundRect">
            <a:avLst/>
          </a:prstGeom>
          <a:solidFill>
            <a:srgbClr val="3E4046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>
                <a:solidFill>
                  <a:srgbClr val="F0F0F0"/>
                </a:solidFill>
              </a:defRPr>
            </a:pPr>
            <a:r>
              <a:t>Cursor Chat 1 Research</a:t>
            </a:r>
          </a:p>
        </p:txBody>
      </p:sp>
      <p:cxnSp>
        <p:nvCxnSpPr>
          <p:cNvPr id="5" name="Connector 4"/>
          <p:cNvCxnSpPr>
            <a:cxnSpLocks/>
          </p:cNvCxnSpPr>
          <p:nvPr/>
        </p:nvCxnSpPr>
        <p:spPr>
          <a:xfrm flipH="1">
            <a:off x="2349984" y="1035017"/>
            <a:ext cx="9168" cy="5760720"/>
          </a:xfrm>
          <a:prstGeom prst="line">
            <a:avLst/>
          </a:prstGeom>
          <a:ln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300544" y="650969"/>
            <a:ext cx="1234440" cy="384048"/>
          </a:xfrm>
          <a:prstGeom prst="roundRect">
            <a:avLst/>
          </a:prstGeom>
          <a:solidFill>
            <a:srgbClr val="3E4046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>
                <a:solidFill>
                  <a:srgbClr val="F0F0F0"/>
                </a:solidFill>
              </a:defRPr>
            </a:pPr>
            <a:r>
              <a:rPr dirty="0"/>
              <a:t>validate_research.py</a:t>
            </a:r>
          </a:p>
        </p:txBody>
      </p:sp>
      <p:cxnSp>
        <p:nvCxnSpPr>
          <p:cNvPr id="7" name="Connector 6"/>
          <p:cNvCxnSpPr>
            <a:cxnSpLocks/>
          </p:cNvCxnSpPr>
          <p:nvPr/>
        </p:nvCxnSpPr>
        <p:spPr>
          <a:xfrm flipH="1">
            <a:off x="3904320" y="1035017"/>
            <a:ext cx="18015" cy="5760720"/>
          </a:xfrm>
          <a:prstGeom prst="line">
            <a:avLst/>
          </a:prstGeom>
          <a:ln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846320" y="650969"/>
            <a:ext cx="1234440" cy="384048"/>
          </a:xfrm>
          <a:prstGeom prst="roundRect">
            <a:avLst/>
          </a:prstGeom>
          <a:solidFill>
            <a:srgbClr val="3E4046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>
                <a:solidFill>
                  <a:srgbClr val="F0F0F0"/>
                </a:solidFill>
              </a:defRPr>
            </a:pPr>
            <a:r>
              <a:t>Human Review</a:t>
            </a:r>
          </a:p>
        </p:txBody>
      </p:sp>
      <p:cxnSp>
        <p:nvCxnSpPr>
          <p:cNvPr id="9" name="Connector 8"/>
          <p:cNvCxnSpPr>
            <a:cxnSpLocks/>
          </p:cNvCxnSpPr>
          <p:nvPr/>
        </p:nvCxnSpPr>
        <p:spPr>
          <a:xfrm>
            <a:off x="5468112" y="1035017"/>
            <a:ext cx="0" cy="5760720"/>
          </a:xfrm>
          <a:prstGeom prst="line">
            <a:avLst/>
          </a:prstGeom>
          <a:ln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77002" y="650969"/>
            <a:ext cx="1234440" cy="384048"/>
          </a:xfrm>
          <a:prstGeom prst="roundRect">
            <a:avLst/>
          </a:prstGeom>
          <a:solidFill>
            <a:srgbClr val="3E4046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>
                <a:solidFill>
                  <a:srgbClr val="F0F0F0"/>
                </a:solidFill>
              </a:defRPr>
            </a:pPr>
            <a:r>
              <a:t>Cursor Chat 2 Writer</a:t>
            </a:r>
          </a:p>
        </p:txBody>
      </p:sp>
      <p:cxnSp>
        <p:nvCxnSpPr>
          <p:cNvPr id="11" name="Connector 10"/>
          <p:cNvCxnSpPr>
            <a:cxnSpLocks/>
          </p:cNvCxnSpPr>
          <p:nvPr/>
        </p:nvCxnSpPr>
        <p:spPr>
          <a:xfrm>
            <a:off x="7098794" y="1035017"/>
            <a:ext cx="0" cy="5760720"/>
          </a:xfrm>
          <a:prstGeom prst="line">
            <a:avLst/>
          </a:prstGeom>
          <a:ln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75170" y="640083"/>
            <a:ext cx="1234440" cy="384048"/>
          </a:xfrm>
          <a:prstGeom prst="roundRect">
            <a:avLst/>
          </a:prstGeom>
          <a:solidFill>
            <a:srgbClr val="3E4046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>
                <a:solidFill>
                  <a:srgbClr val="F0F0F0"/>
                </a:solidFill>
              </a:defRPr>
            </a:pPr>
            <a:r>
              <a:t>validate_spec_against_research.py</a:t>
            </a:r>
          </a:p>
        </p:txBody>
      </p:sp>
      <p:cxnSp>
        <p:nvCxnSpPr>
          <p:cNvPr id="13" name="Connector 12"/>
          <p:cNvCxnSpPr>
            <a:cxnSpLocks/>
          </p:cNvCxnSpPr>
          <p:nvPr/>
        </p:nvCxnSpPr>
        <p:spPr>
          <a:xfrm>
            <a:off x="8796962" y="1024131"/>
            <a:ext cx="0" cy="5760720"/>
          </a:xfrm>
          <a:prstGeom prst="line">
            <a:avLst/>
          </a:prstGeom>
          <a:ln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866812" y="640083"/>
            <a:ext cx="1234440" cy="384048"/>
          </a:xfrm>
          <a:prstGeom prst="roundRect">
            <a:avLst/>
          </a:prstGeom>
          <a:solidFill>
            <a:srgbClr val="3E4046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>
                <a:solidFill>
                  <a:srgbClr val="F0F0F0"/>
                </a:solidFill>
              </a:defRPr>
            </a:pPr>
            <a:r>
              <a:t>md_to_docx.py</a:t>
            </a:r>
          </a:p>
        </p:txBody>
      </p:sp>
      <p:cxnSp>
        <p:nvCxnSpPr>
          <p:cNvPr id="15" name="Connector 14"/>
          <p:cNvCxnSpPr>
            <a:cxnSpLocks/>
          </p:cNvCxnSpPr>
          <p:nvPr/>
        </p:nvCxnSpPr>
        <p:spPr>
          <a:xfrm>
            <a:off x="10488604" y="1024131"/>
            <a:ext cx="0" cy="5760720"/>
          </a:xfrm>
          <a:prstGeom prst="line">
            <a:avLst/>
          </a:prstGeom>
          <a:ln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1245329"/>
            <a:ext cx="162736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DCDCDC"/>
                </a:solidFill>
              </a:defRPr>
            </a:pPr>
            <a:r>
              <a:rPr sz="1000">
                <a:solidFill>
                  <a:srgbClr val="002060"/>
                </a:solidFill>
                <a:highlight>
                  <a:srgbClr val="FFFF00"/>
                </a:highlight>
              </a:rPr>
              <a:t>Research prompt + artifacts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2448" y="2372048"/>
            <a:ext cx="135485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DCDCDC"/>
                </a:solidFill>
              </a:defRPr>
            </a:pPr>
            <a:r>
              <a:rPr sz="1000" dirty="0">
                <a:solidFill>
                  <a:srgbClr val="002060"/>
                </a:solidFill>
              </a:rPr>
              <a:t>Write research/*.</a:t>
            </a:r>
            <a:r>
              <a:rPr sz="1000" dirty="0" err="1">
                <a:solidFill>
                  <a:srgbClr val="002060"/>
                </a:solidFill>
              </a:rPr>
              <a:t>yaml</a:t>
            </a:r>
            <a:endParaRPr sz="1000" dirty="0">
              <a:solidFill>
                <a:srgbClr val="00206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65521" y="2614706"/>
            <a:ext cx="158088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DCDCDC"/>
                </a:solidFill>
              </a:defRPr>
            </a:pPr>
            <a:r>
              <a:rPr sz="1000" b="1" dirty="0">
                <a:solidFill>
                  <a:srgbClr val="002060"/>
                </a:solidFill>
              </a:rPr>
              <a:t>Schema + semantic checks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0624" y="3041381"/>
            <a:ext cx="82266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DCDCDC"/>
                </a:solidFill>
              </a:defRPr>
            </a:pPr>
            <a:r>
              <a:rPr sz="1000">
                <a:solidFill>
                  <a:srgbClr val="002060"/>
                </a:solidFill>
              </a:rPr>
              <a:t>OK or errors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2878" y="3677122"/>
            <a:ext cx="191430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DCDCDC"/>
                </a:solidFill>
              </a:defRPr>
            </a:pPr>
            <a:r>
              <a:rPr sz="1000" dirty="0">
                <a:solidFill>
                  <a:srgbClr val="002060"/>
                </a:solidFill>
              </a:rPr>
              <a:t>Review YAML mappings and gaps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0624" y="4066778"/>
            <a:ext cx="69442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DCDCDC"/>
                </a:solidFill>
              </a:defRPr>
            </a:pPr>
            <a:r>
              <a:rPr sz="1000" dirty="0">
                <a:solidFill>
                  <a:srgbClr val="002060"/>
                </a:solidFill>
              </a:rPr>
              <a:t>Approved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3598" y="4483723"/>
            <a:ext cx="209704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DCDCDC"/>
                </a:solidFill>
              </a:defRPr>
            </a:pPr>
            <a:r>
              <a:rPr sz="1000" dirty="0">
                <a:solidFill>
                  <a:srgbClr val="002060"/>
                </a:solidFill>
                <a:highlight>
                  <a:srgbClr val="FFFF00"/>
                </a:highlight>
              </a:rPr>
              <a:t>Writer prompt + research YAML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06046" y="5151566"/>
            <a:ext cx="171232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DCDCDC"/>
                </a:solidFill>
              </a:defRPr>
            </a:pPr>
            <a:r>
              <a:rPr sz="1000" dirty="0">
                <a:solidFill>
                  <a:srgbClr val="002060"/>
                </a:solidFill>
              </a:rPr>
              <a:t>Write spec/*.md sections 1-5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9512" y="5758453"/>
            <a:ext cx="86273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DCDCDC"/>
                </a:solidFill>
              </a:defRPr>
            </a:pPr>
            <a:r>
              <a:rPr sz="1000">
                <a:solidFill>
                  <a:srgbClr val="002060"/>
                </a:solidFill>
              </a:rPr>
              <a:t>Parity checks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98280" y="6170433"/>
            <a:ext cx="83227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DCDCDC"/>
                </a:solidFill>
              </a:defRPr>
            </a:pPr>
            <a:r>
              <a:rPr sz="1000" dirty="0">
                <a:solidFill>
                  <a:srgbClr val="002060"/>
                </a:solidFill>
              </a:rPr>
              <a:t>Export .docx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2146" y="6333405"/>
            <a:ext cx="141577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800">
                <a:solidFill>
                  <a:srgbClr val="002060"/>
                </a:solidFill>
              </a:defRPr>
            </a:lvl1pPr>
          </a:lstStyle>
          <a:p>
            <a:r>
              <a:rPr sz="1000" dirty="0"/>
              <a:t>Stakeholder deliverable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347D729-22DA-48C5-7B31-3CDC58B59FCA}"/>
              </a:ext>
            </a:extLst>
          </p:cNvPr>
          <p:cNvCxnSpPr/>
          <p:nvPr/>
        </p:nvCxnSpPr>
        <p:spPr>
          <a:xfrm>
            <a:off x="758952" y="1460773"/>
            <a:ext cx="1572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7240BF35-CE06-E9A9-6728-409132C5108C}"/>
              </a:ext>
            </a:extLst>
          </p:cNvPr>
          <p:cNvCxnSpPr>
            <a:cxnSpLocks/>
          </p:cNvCxnSpPr>
          <p:nvPr/>
        </p:nvCxnSpPr>
        <p:spPr>
          <a:xfrm rot="5400000">
            <a:off x="2205543" y="1728294"/>
            <a:ext cx="210142" cy="12700"/>
          </a:xfrm>
          <a:prstGeom prst="bentConnector4">
            <a:avLst>
              <a:gd name="adj1" fmla="val 24369"/>
              <a:gd name="adj2" fmla="val -17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277924" y="1855971"/>
            <a:ext cx="166584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DCDCDC"/>
                </a:solidFill>
              </a:defRPr>
            </a:pPr>
            <a:r>
              <a:rPr sz="1000" dirty="0">
                <a:solidFill>
                  <a:srgbClr val="002060"/>
                </a:solidFill>
              </a:rPr>
              <a:t>Read source, VO, rules, VVLs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BE9D0EC4-CEF0-FB78-135F-00FD88D557B3}"/>
              </a:ext>
            </a:extLst>
          </p:cNvPr>
          <p:cNvCxnSpPr>
            <a:cxnSpLocks/>
          </p:cNvCxnSpPr>
          <p:nvPr/>
        </p:nvCxnSpPr>
        <p:spPr>
          <a:xfrm rot="5400000">
            <a:off x="2205543" y="2271798"/>
            <a:ext cx="210142" cy="12700"/>
          </a:xfrm>
          <a:prstGeom prst="bentConnector4">
            <a:avLst>
              <a:gd name="adj1" fmla="val 24369"/>
              <a:gd name="adj2" fmla="val -17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AAAD063-57CA-D928-B444-1D59703B12B8}"/>
              </a:ext>
            </a:extLst>
          </p:cNvPr>
          <p:cNvCxnSpPr>
            <a:cxnSpLocks/>
          </p:cNvCxnSpPr>
          <p:nvPr/>
        </p:nvCxnSpPr>
        <p:spPr>
          <a:xfrm>
            <a:off x="2331720" y="2830150"/>
            <a:ext cx="15448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CBB016F-7F06-37F5-F4A0-7B044C752E17}"/>
              </a:ext>
            </a:extLst>
          </p:cNvPr>
          <p:cNvCxnSpPr>
            <a:cxnSpLocks/>
          </p:cNvCxnSpPr>
          <p:nvPr/>
        </p:nvCxnSpPr>
        <p:spPr>
          <a:xfrm flipH="1" flipV="1">
            <a:off x="758952" y="3256825"/>
            <a:ext cx="3113092" cy="1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FF33A77-5380-9E46-1419-F15341A353B1}"/>
              </a:ext>
            </a:extLst>
          </p:cNvPr>
          <p:cNvCxnSpPr>
            <a:cxnSpLocks/>
          </p:cNvCxnSpPr>
          <p:nvPr/>
        </p:nvCxnSpPr>
        <p:spPr>
          <a:xfrm flipV="1">
            <a:off x="758952" y="3867650"/>
            <a:ext cx="4645153" cy="15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FEAAB6E-484E-FBBC-1E17-A2DCC3387488}"/>
              </a:ext>
            </a:extLst>
          </p:cNvPr>
          <p:cNvCxnSpPr>
            <a:cxnSpLocks/>
          </p:cNvCxnSpPr>
          <p:nvPr/>
        </p:nvCxnSpPr>
        <p:spPr>
          <a:xfrm flipH="1">
            <a:off x="713233" y="4266829"/>
            <a:ext cx="46908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FD4F191-6ED6-9AA0-E0AC-F1BC471EA413}"/>
              </a:ext>
            </a:extLst>
          </p:cNvPr>
          <p:cNvCxnSpPr>
            <a:cxnSpLocks/>
          </p:cNvCxnSpPr>
          <p:nvPr/>
        </p:nvCxnSpPr>
        <p:spPr>
          <a:xfrm>
            <a:off x="758952" y="4719445"/>
            <a:ext cx="6294122" cy="122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70FFA637-8D62-0B46-7278-D2FAABE19993}"/>
              </a:ext>
            </a:extLst>
          </p:cNvPr>
          <p:cNvCxnSpPr>
            <a:cxnSpLocks/>
          </p:cNvCxnSpPr>
          <p:nvPr/>
        </p:nvCxnSpPr>
        <p:spPr>
          <a:xfrm rot="5400000">
            <a:off x="6926849" y="5398933"/>
            <a:ext cx="210142" cy="12700"/>
          </a:xfrm>
          <a:prstGeom prst="bentConnector4">
            <a:avLst>
              <a:gd name="adj1" fmla="val 24369"/>
              <a:gd name="adj2" fmla="val -17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D1601E1-DF73-882F-F849-47DE84ED38A4}"/>
              </a:ext>
            </a:extLst>
          </p:cNvPr>
          <p:cNvCxnSpPr>
            <a:cxnSpLocks/>
          </p:cNvCxnSpPr>
          <p:nvPr/>
        </p:nvCxnSpPr>
        <p:spPr>
          <a:xfrm>
            <a:off x="7053074" y="5939563"/>
            <a:ext cx="17525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3EC7EDD0-116E-A584-44CC-95A881D31033}"/>
              </a:ext>
            </a:extLst>
          </p:cNvPr>
          <p:cNvCxnSpPr>
            <a:cxnSpLocks/>
          </p:cNvCxnSpPr>
          <p:nvPr/>
        </p:nvCxnSpPr>
        <p:spPr>
          <a:xfrm>
            <a:off x="8760778" y="6385877"/>
            <a:ext cx="16775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4F25857-02D9-912A-11EA-20DA640E2695}"/>
              </a:ext>
            </a:extLst>
          </p:cNvPr>
          <p:cNvCxnSpPr>
            <a:cxnSpLocks/>
          </p:cNvCxnSpPr>
          <p:nvPr/>
        </p:nvCxnSpPr>
        <p:spPr>
          <a:xfrm flipH="1">
            <a:off x="758952" y="6608953"/>
            <a:ext cx="96839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A305629-8F9E-9F42-9835-5335DCEDA61E}"/>
              </a:ext>
            </a:extLst>
          </p:cNvPr>
          <p:cNvSpPr txBox="1"/>
          <p:nvPr/>
        </p:nvSpPr>
        <p:spPr>
          <a:xfrm>
            <a:off x="274320" y="91440"/>
            <a:ext cx="203318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lang="en-US" dirty="0"/>
              <a:t>Workflow Stages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85E444-64FB-CFC6-069C-FF3D41E8942B}"/>
              </a:ext>
            </a:extLst>
          </p:cNvPr>
          <p:cNvSpPr txBox="1"/>
          <p:nvPr/>
        </p:nvSpPr>
        <p:spPr>
          <a:xfrm>
            <a:off x="274320" y="91440"/>
            <a:ext cx="237372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lang="en-US" dirty="0"/>
              <a:t>Cursor Control Plane</a:t>
            </a:r>
            <a:endParaRPr dirty="0"/>
          </a:p>
        </p:txBody>
      </p:sp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4326F09D-B708-D952-B045-94844341CAD9}"/>
              </a:ext>
            </a:extLst>
          </p:cNvPr>
          <p:cNvSpPr/>
          <p:nvPr/>
        </p:nvSpPr>
        <p:spPr>
          <a:xfrm>
            <a:off x="1067534" y="1186065"/>
            <a:ext cx="2011680" cy="82296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@ file references</a:t>
            </a:r>
          </a:p>
        </p:txBody>
      </p:sp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155B369D-0E9C-D974-DC92-A0F1F8A7F79C}"/>
              </a:ext>
            </a:extLst>
          </p:cNvPr>
          <p:cNvSpPr/>
          <p:nvPr/>
        </p:nvSpPr>
        <p:spPr>
          <a:xfrm>
            <a:off x="3902174" y="1186065"/>
            <a:ext cx="2743200" cy="82296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integration-spec-research.md</a:t>
            </a:r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0D799BF0-84E7-DFA3-9E65-0346D9F51072}"/>
              </a:ext>
            </a:extLst>
          </p:cNvPr>
          <p:cNvSpPr/>
          <p:nvPr/>
        </p:nvSpPr>
        <p:spPr>
          <a:xfrm>
            <a:off x="7559774" y="1186065"/>
            <a:ext cx="3108960" cy="82296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integration-spec-research.mdc</a:t>
            </a:r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F027BA21-72E6-46E3-32E7-BECECBE86DD2}"/>
              </a:ext>
            </a:extLst>
          </p:cNvPr>
          <p:cNvSpPr/>
          <p:nvPr/>
        </p:nvSpPr>
        <p:spPr>
          <a:xfrm>
            <a:off x="182880" y="2743200"/>
            <a:ext cx="3931920" cy="82296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medicaid-spec-conventions.mdc</a:t>
            </a:r>
          </a:p>
          <a:p>
            <a:r>
              <a:t>(always)</a:t>
            </a: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C644EDDC-43F1-27DE-CC98-609E455E7004}"/>
              </a:ext>
            </a:extLst>
          </p:cNvPr>
          <p:cNvSpPr/>
          <p:nvPr/>
        </p:nvSpPr>
        <p:spPr>
          <a:xfrm>
            <a:off x="5182334" y="2743200"/>
            <a:ext cx="2377440" cy="82296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integration-spec-write.md</a:t>
            </a:r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58D34EAD-311B-8737-6CB2-4C7F57C0D769}"/>
              </a:ext>
            </a:extLst>
          </p:cNvPr>
          <p:cNvSpPr/>
          <p:nvPr/>
        </p:nvSpPr>
        <p:spPr>
          <a:xfrm>
            <a:off x="8595360" y="2743200"/>
            <a:ext cx="2834640" cy="82296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integration-spec-writer.mdc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435B936-ED2E-44AD-31A2-BF4A42F2C70F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3079214" y="1597545"/>
            <a:ext cx="8229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44FF5DD-149D-A728-9D38-B76637F33B32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7559774" y="3154680"/>
            <a:ext cx="10355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798919E-BF79-F61B-E633-53D5395B6DD5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4114800" y="3154680"/>
            <a:ext cx="10675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4F40B83-B2C2-18F2-B3E2-657B5F2166D9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6645374" y="1597545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4061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Overview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367497" y="1038939"/>
            <a:ext cx="1097280" cy="310896"/>
          </a:xfrm>
          <a:prstGeom prst="roundRect">
            <a:avLst>
              <a:gd name="adj" fmla="val 20588"/>
            </a:avLst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422361" y="1075515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67297" y="1697307"/>
            <a:ext cx="4297680" cy="329184"/>
          </a:xfrm>
          <a:prstGeom prst="roundRect">
            <a:avLst>
              <a:gd name="adj" fmla="val 19444"/>
            </a:avLst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161" y="1733883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script or Workflow Skill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67297" y="2373963"/>
            <a:ext cx="4297680" cy="329184"/>
          </a:xfrm>
          <a:prstGeom prst="roundRect">
            <a:avLst>
              <a:gd name="adj" fmla="val 19444"/>
            </a:avLst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161" y="2410539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 checks deps workspace files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67297" y="3050619"/>
            <a:ext cx="4297680" cy="329184"/>
          </a:xfrm>
          <a:prstGeom prst="roundRect">
            <a:avLst>
              <a:gd name="adj" fmla="val 19444"/>
            </a:avLst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161" y="3087195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emit Research prompt open Chat 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67297" y="3727275"/>
            <a:ext cx="4297680" cy="329184"/>
          </a:xfrm>
          <a:prstGeom prst="roundRect">
            <a:avLst>
              <a:gd name="adj" fmla="val 19444"/>
            </a:avLst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161" y="3763851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Research Agent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67297" y="4403931"/>
            <a:ext cx="4297680" cy="329184"/>
          </a:xfrm>
          <a:prstGeom prst="roundRect">
            <a:avLst>
              <a:gd name="adj" fmla="val 19444"/>
            </a:avLst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161" y="4440507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Task explore readonly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67297" y="5080587"/>
            <a:ext cx="4297680" cy="329184"/>
          </a:xfrm>
          <a:prstGeom prst="roundRect">
            <a:avLst>
              <a:gd name="adj" fmla="val 19444"/>
            </a:avLst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161" y="5117163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Integration_Research.yaml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67297" y="5757243"/>
            <a:ext cx="4297680" cy="329184"/>
          </a:xfrm>
          <a:prstGeom prst="roundRect">
            <a:avLst>
              <a:gd name="adj" fmla="val 19444"/>
            </a:avLst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161" y="5793819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1b validate_research.py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916137" y="1368123"/>
            <a:ext cx="0" cy="310896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916137" y="2044779"/>
            <a:ext cx="0" cy="310896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916137" y="2721435"/>
            <a:ext cx="0" cy="310896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916137" y="3398091"/>
            <a:ext cx="0" cy="310896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916137" y="4074747"/>
            <a:ext cx="0" cy="310896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916137" y="4751403"/>
            <a:ext cx="0" cy="310896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916137" y="5428059"/>
            <a:ext cx="0" cy="310896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17">
            <a:extLst>
              <a:ext uri="{FF2B5EF4-FFF2-40B4-BE49-F238E27FC236}">
                <a16:creationId xmlns:a16="http://schemas.microsoft.com/office/drawing/2014/main" id="{1ADB17F7-8678-807D-00A6-F4C33A4BF418}"/>
              </a:ext>
            </a:extLst>
          </p:cNvPr>
          <p:cNvSpPr/>
          <p:nvPr/>
        </p:nvSpPr>
        <p:spPr>
          <a:xfrm>
            <a:off x="6944143" y="1989915"/>
            <a:ext cx="4297680" cy="329184"/>
          </a:xfrm>
          <a:prstGeom prst="roundRect">
            <a:avLst>
              <a:gd name="adj" fmla="val 19444"/>
            </a:avLst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18">
            <a:extLst>
              <a:ext uri="{FF2B5EF4-FFF2-40B4-BE49-F238E27FC236}">
                <a16:creationId xmlns:a16="http://schemas.microsoft.com/office/drawing/2014/main" id="{D0465B3E-38F2-575F-9D74-1E5A6C9874C6}"/>
              </a:ext>
            </a:extLst>
          </p:cNvPr>
          <p:cNvSpPr/>
          <p:nvPr/>
        </p:nvSpPr>
        <p:spPr>
          <a:xfrm>
            <a:off x="6999007" y="2026491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human approve YAML</a:t>
            </a:r>
            <a:endParaRPr lang="en-US" sz="850" dirty="0"/>
          </a:p>
        </p:txBody>
      </p:sp>
      <p:sp>
        <p:nvSpPr>
          <p:cNvPr id="69" name="Shape 19">
            <a:extLst>
              <a:ext uri="{FF2B5EF4-FFF2-40B4-BE49-F238E27FC236}">
                <a16:creationId xmlns:a16="http://schemas.microsoft.com/office/drawing/2014/main" id="{864687CC-405A-45B3-2A01-29654E45406C}"/>
              </a:ext>
            </a:extLst>
          </p:cNvPr>
          <p:cNvSpPr/>
          <p:nvPr/>
        </p:nvSpPr>
        <p:spPr>
          <a:xfrm>
            <a:off x="6944143" y="2666571"/>
            <a:ext cx="4297680" cy="329184"/>
          </a:xfrm>
          <a:prstGeom prst="roundRect">
            <a:avLst>
              <a:gd name="adj" fmla="val 19444"/>
            </a:avLst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20">
            <a:extLst>
              <a:ext uri="{FF2B5EF4-FFF2-40B4-BE49-F238E27FC236}">
                <a16:creationId xmlns:a16="http://schemas.microsoft.com/office/drawing/2014/main" id="{A5A50028-2AB0-3C7B-C05F-162B3E71E6E6}"/>
              </a:ext>
            </a:extLst>
          </p:cNvPr>
          <p:cNvSpPr/>
          <p:nvPr/>
        </p:nvSpPr>
        <p:spPr>
          <a:xfrm>
            <a:off x="6999007" y="2703147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emit Writer prompt new Chat 2</a:t>
            </a:r>
            <a:endParaRPr lang="en-US" sz="850" dirty="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A1DA3B46-CFB4-AFEC-329D-BD36FD00E88D}"/>
              </a:ext>
            </a:extLst>
          </p:cNvPr>
          <p:cNvSpPr/>
          <p:nvPr/>
        </p:nvSpPr>
        <p:spPr>
          <a:xfrm>
            <a:off x="6944143" y="3343227"/>
            <a:ext cx="4297680" cy="329184"/>
          </a:xfrm>
          <a:prstGeom prst="roundRect">
            <a:avLst>
              <a:gd name="adj" fmla="val 19444"/>
            </a:avLst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22">
            <a:extLst>
              <a:ext uri="{FF2B5EF4-FFF2-40B4-BE49-F238E27FC236}">
                <a16:creationId xmlns:a16="http://schemas.microsoft.com/office/drawing/2014/main" id="{CC757B13-9EC8-DD47-2D6C-BB4693871402}"/>
              </a:ext>
            </a:extLst>
          </p:cNvPr>
          <p:cNvSpPr/>
          <p:nvPr/>
        </p:nvSpPr>
        <p:spPr>
          <a:xfrm>
            <a:off x="6999007" y="3379803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Writer Agent research only</a:t>
            </a:r>
            <a:endParaRPr lang="en-US" sz="850" dirty="0"/>
          </a:p>
        </p:txBody>
      </p:sp>
      <p:sp>
        <p:nvSpPr>
          <p:cNvPr id="73" name="Shape 23">
            <a:extLst>
              <a:ext uri="{FF2B5EF4-FFF2-40B4-BE49-F238E27FC236}">
                <a16:creationId xmlns:a16="http://schemas.microsoft.com/office/drawing/2014/main" id="{52A76DDB-7322-5BBA-5A2C-32883B74CEE1}"/>
              </a:ext>
            </a:extLst>
          </p:cNvPr>
          <p:cNvSpPr/>
          <p:nvPr/>
        </p:nvSpPr>
        <p:spPr>
          <a:xfrm>
            <a:off x="6944143" y="4019883"/>
            <a:ext cx="4297680" cy="329184"/>
          </a:xfrm>
          <a:prstGeom prst="roundRect">
            <a:avLst>
              <a:gd name="adj" fmla="val 19444"/>
            </a:avLst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24">
            <a:extLst>
              <a:ext uri="{FF2B5EF4-FFF2-40B4-BE49-F238E27FC236}">
                <a16:creationId xmlns:a16="http://schemas.microsoft.com/office/drawing/2014/main" id="{3AC99ACC-D20B-6854-0B76-0CF03B56838A}"/>
              </a:ext>
            </a:extLst>
          </p:cNvPr>
          <p:cNvSpPr/>
          <p:nvPr/>
        </p:nvSpPr>
        <p:spPr>
          <a:xfrm>
            <a:off x="6999007" y="4056459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Integration_Spec.md</a:t>
            </a:r>
            <a:endParaRPr lang="en-US" sz="850" dirty="0"/>
          </a:p>
        </p:txBody>
      </p:sp>
      <p:sp>
        <p:nvSpPr>
          <p:cNvPr id="75" name="Shape 25">
            <a:extLst>
              <a:ext uri="{FF2B5EF4-FFF2-40B4-BE49-F238E27FC236}">
                <a16:creationId xmlns:a16="http://schemas.microsoft.com/office/drawing/2014/main" id="{C0678138-4D93-DFEA-FFB1-E5BADDC7EA17}"/>
              </a:ext>
            </a:extLst>
          </p:cNvPr>
          <p:cNvSpPr/>
          <p:nvPr/>
        </p:nvSpPr>
        <p:spPr>
          <a:xfrm>
            <a:off x="6761263" y="4696539"/>
            <a:ext cx="4663440" cy="329184"/>
          </a:xfrm>
          <a:prstGeom prst="roundRect">
            <a:avLst>
              <a:gd name="adj" fmla="val 19444"/>
            </a:avLst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26">
            <a:extLst>
              <a:ext uri="{FF2B5EF4-FFF2-40B4-BE49-F238E27FC236}">
                <a16:creationId xmlns:a16="http://schemas.microsoft.com/office/drawing/2014/main" id="{79C543AE-67F5-7DBD-3008-B0A6769C455A}"/>
              </a:ext>
            </a:extLst>
          </p:cNvPr>
          <p:cNvSpPr/>
          <p:nvPr/>
        </p:nvSpPr>
        <p:spPr>
          <a:xfrm>
            <a:off x="6816127" y="4733115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3b validate_spec_against_research.py</a:t>
            </a:r>
            <a:endParaRPr lang="en-US" sz="850" dirty="0"/>
          </a:p>
        </p:txBody>
      </p:sp>
      <p:sp>
        <p:nvSpPr>
          <p:cNvPr id="77" name="Shape 27">
            <a:extLst>
              <a:ext uri="{FF2B5EF4-FFF2-40B4-BE49-F238E27FC236}">
                <a16:creationId xmlns:a16="http://schemas.microsoft.com/office/drawing/2014/main" id="{2B5C593C-B6AB-6EDB-0DCC-9E70260FF463}"/>
              </a:ext>
            </a:extLst>
          </p:cNvPr>
          <p:cNvSpPr/>
          <p:nvPr/>
        </p:nvSpPr>
        <p:spPr>
          <a:xfrm>
            <a:off x="6944143" y="5373195"/>
            <a:ext cx="4297680" cy="329184"/>
          </a:xfrm>
          <a:prstGeom prst="roundRect">
            <a:avLst>
              <a:gd name="adj" fmla="val 19444"/>
            </a:avLst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28">
            <a:extLst>
              <a:ext uri="{FF2B5EF4-FFF2-40B4-BE49-F238E27FC236}">
                <a16:creationId xmlns:a16="http://schemas.microsoft.com/office/drawing/2014/main" id="{66131492-33A9-772D-3600-B63B88E0F9C5}"/>
              </a:ext>
            </a:extLst>
          </p:cNvPr>
          <p:cNvSpPr/>
          <p:nvPr/>
        </p:nvSpPr>
        <p:spPr>
          <a:xfrm>
            <a:off x="6999007" y="5409771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 md_to_docx.py</a:t>
            </a:r>
            <a:endParaRPr lang="en-US" sz="850" dirty="0"/>
          </a:p>
        </p:txBody>
      </p:sp>
      <p:sp>
        <p:nvSpPr>
          <p:cNvPr id="79" name="Shape 29">
            <a:extLst>
              <a:ext uri="{FF2B5EF4-FFF2-40B4-BE49-F238E27FC236}">
                <a16:creationId xmlns:a16="http://schemas.microsoft.com/office/drawing/2014/main" id="{716ACB6B-6BDC-D77A-4C51-CB61CB5DFD60}"/>
              </a:ext>
            </a:extLst>
          </p:cNvPr>
          <p:cNvSpPr/>
          <p:nvPr/>
        </p:nvSpPr>
        <p:spPr>
          <a:xfrm>
            <a:off x="8544343" y="6049851"/>
            <a:ext cx="1097280" cy="310896"/>
          </a:xfrm>
          <a:prstGeom prst="roundRect">
            <a:avLst>
              <a:gd name="adj" fmla="val 20588"/>
            </a:avLst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30">
            <a:extLst>
              <a:ext uri="{FF2B5EF4-FFF2-40B4-BE49-F238E27FC236}">
                <a16:creationId xmlns:a16="http://schemas.microsoft.com/office/drawing/2014/main" id="{7D639D36-716D-AA69-8777-C50873ED86BA}"/>
              </a:ext>
            </a:extLst>
          </p:cNvPr>
          <p:cNvSpPr/>
          <p:nvPr/>
        </p:nvSpPr>
        <p:spPr>
          <a:xfrm>
            <a:off x="8599207" y="6086427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900" dirty="0"/>
          </a:p>
        </p:txBody>
      </p:sp>
      <p:sp>
        <p:nvSpPr>
          <p:cNvPr id="81" name="Shape 39">
            <a:extLst>
              <a:ext uri="{FF2B5EF4-FFF2-40B4-BE49-F238E27FC236}">
                <a16:creationId xmlns:a16="http://schemas.microsoft.com/office/drawing/2014/main" id="{8F271220-733C-C50D-0D3B-7274EF0C1B5E}"/>
              </a:ext>
            </a:extLst>
          </p:cNvPr>
          <p:cNvSpPr/>
          <p:nvPr/>
        </p:nvSpPr>
        <p:spPr>
          <a:xfrm>
            <a:off x="9092983" y="2337387"/>
            <a:ext cx="0" cy="310896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40">
            <a:extLst>
              <a:ext uri="{FF2B5EF4-FFF2-40B4-BE49-F238E27FC236}">
                <a16:creationId xmlns:a16="http://schemas.microsoft.com/office/drawing/2014/main" id="{1A365B05-9F90-D07C-B709-5DC3E6725F57}"/>
              </a:ext>
            </a:extLst>
          </p:cNvPr>
          <p:cNvSpPr/>
          <p:nvPr/>
        </p:nvSpPr>
        <p:spPr>
          <a:xfrm>
            <a:off x="9092983" y="3014043"/>
            <a:ext cx="0" cy="310896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41">
            <a:extLst>
              <a:ext uri="{FF2B5EF4-FFF2-40B4-BE49-F238E27FC236}">
                <a16:creationId xmlns:a16="http://schemas.microsoft.com/office/drawing/2014/main" id="{FA001648-8BFB-4237-B917-23649757795B}"/>
              </a:ext>
            </a:extLst>
          </p:cNvPr>
          <p:cNvSpPr/>
          <p:nvPr/>
        </p:nvSpPr>
        <p:spPr>
          <a:xfrm>
            <a:off x="9092983" y="3690699"/>
            <a:ext cx="0" cy="310896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42">
            <a:extLst>
              <a:ext uri="{FF2B5EF4-FFF2-40B4-BE49-F238E27FC236}">
                <a16:creationId xmlns:a16="http://schemas.microsoft.com/office/drawing/2014/main" id="{06327C9F-A1D6-AD20-DC4A-2F6BC2099468}"/>
              </a:ext>
            </a:extLst>
          </p:cNvPr>
          <p:cNvSpPr/>
          <p:nvPr/>
        </p:nvSpPr>
        <p:spPr>
          <a:xfrm>
            <a:off x="9092983" y="4367355"/>
            <a:ext cx="0" cy="310896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43">
            <a:extLst>
              <a:ext uri="{FF2B5EF4-FFF2-40B4-BE49-F238E27FC236}">
                <a16:creationId xmlns:a16="http://schemas.microsoft.com/office/drawing/2014/main" id="{8ECE3627-726D-EA97-1EE4-4EE498E222CA}"/>
              </a:ext>
            </a:extLst>
          </p:cNvPr>
          <p:cNvSpPr/>
          <p:nvPr/>
        </p:nvSpPr>
        <p:spPr>
          <a:xfrm>
            <a:off x="9092983" y="5044011"/>
            <a:ext cx="0" cy="310896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44">
            <a:extLst>
              <a:ext uri="{FF2B5EF4-FFF2-40B4-BE49-F238E27FC236}">
                <a16:creationId xmlns:a16="http://schemas.microsoft.com/office/drawing/2014/main" id="{F4FD7B78-025B-B382-E980-013C65B3AA5C}"/>
              </a:ext>
            </a:extLst>
          </p:cNvPr>
          <p:cNvSpPr/>
          <p:nvPr/>
        </p:nvSpPr>
        <p:spPr>
          <a:xfrm>
            <a:off x="9092983" y="5720667"/>
            <a:ext cx="0" cy="310896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E71DEF60-BC0E-0256-C0C8-921E3C2973A3}"/>
              </a:ext>
            </a:extLst>
          </p:cNvPr>
          <p:cNvCxnSpPr>
            <a:stCxn id="18" idx="2"/>
            <a:endCxn id="67" idx="0"/>
          </p:cNvCxnSpPr>
          <p:nvPr/>
        </p:nvCxnSpPr>
        <p:spPr>
          <a:xfrm rot="5400000" flipH="1" flipV="1">
            <a:off x="3956304" y="949748"/>
            <a:ext cx="4096512" cy="6176846"/>
          </a:xfrm>
          <a:prstGeom prst="bentConnector5">
            <a:avLst>
              <a:gd name="adj1" fmla="val -5580"/>
              <a:gd name="adj2" fmla="val 49556"/>
              <a:gd name="adj3" fmla="val 10558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03EBB8-4F18-40A5-7086-6818FBE61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39" y="866417"/>
            <a:ext cx="11079121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782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9291DC-AE07-64E2-733A-FCCEB0C95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86" y="2262024"/>
            <a:ext cx="11841227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865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45DBA0-156E-69F0-0F9A-9552874F3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1005"/>
            <a:ext cx="12192000" cy="397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480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DE9F47-0240-8385-8AE9-2A08DC0DB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7321"/>
            <a:ext cx="12192000" cy="606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211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BB9FDB-F093-C97B-C7EE-56609D6D4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745" y="0"/>
            <a:ext cx="31605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041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048D52-9410-2D52-48BC-6ABD86B8C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371" y="0"/>
            <a:ext cx="44572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645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5AD034-C2B1-E46E-0DE3-6060FE4B2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358"/>
            <a:ext cx="12192000" cy="6689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263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2DF907-7D86-5222-4C52-425D22505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72" y="0"/>
            <a:ext cx="113710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673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842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2F5AC7-1BF9-F52C-94B3-C9DC700AD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0"/>
            <a:ext cx="47806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001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279</Words>
  <Application>Microsoft Office PowerPoint</Application>
  <PresentationFormat>Widescreen</PresentationFormat>
  <Paragraphs>65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Mangesh Umbrajkar</cp:lastModifiedBy>
  <cp:revision>16</cp:revision>
  <dcterms:created xsi:type="dcterms:W3CDTF">2013-01-27T09:14:16Z</dcterms:created>
  <dcterms:modified xsi:type="dcterms:W3CDTF">2026-06-02T19:02:42Z</dcterms:modified>
  <cp:category/>
</cp:coreProperties>
</file>